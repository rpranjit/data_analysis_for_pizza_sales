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 Medium"/>
      <p:regular r:id="rId201314"/>
    </p:embeddedFont>
    <p:embeddedFont>
      <p:font typeface="Instrument Sans SemiBold"/>
      <p:regular r:id="rId201315"/>
    </p:embeddedFont>
    <p:embeddedFont>
      <p:font typeface="Instrumen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Pizza Sales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Analysis &amp; Power BI Dashboard Report · January 1 – December 31, 2015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131171"/>
            <a:ext cx="1568212" cy="287139"/>
          </a:xfrm>
          <a:prstGeom prst="roundRect">
            <a:avLst>
              <a:gd name="adj" fmla="val 22118"/>
            </a:avLst>
          </a:prstGeom>
          <a:solidFill>
            <a:srgbClr val="E2E3E9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187825"/>
            <a:ext cx="195098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48,620 LINE ITEMS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96027" y="4131171"/>
            <a:ext cx="131947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054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09431" y="4187825"/>
            <a:ext cx="170225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21,350 ORDERS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309958" y="4131171"/>
            <a:ext cx="227582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054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23362" y="4187825"/>
            <a:ext cx="265859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REPORT DATE: AUG 25,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84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Executive Summary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5715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full year of pizzeria transaction data analyzed via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pizza_sales.sql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mirrored in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Pizza_Sales_dashboard.pbix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Power BI report (Home + Best &amp; Worst Sellers pages).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56907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$817,860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34290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Total Revenue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363135" y="256907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49,574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4290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Pizzas Sold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064794" y="256907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21,350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8064794" y="34290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Total Orders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2512255" y="419675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$38.31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2512255" y="505668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Avg Order Value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213915" y="419675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2.32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505668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Avg Pizzas/Order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556458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Classic category leads revenue and volume; Large pizzas dominate sizing; demand peaks Fridays. Thai Chicken, Barbecue Chicken, and California Chicken are top revenue performers; Brie Carre underperforms on every measure.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876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About the Dataset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15902"/>
            <a:ext cx="6928470" cy="3926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5421" y="1409998"/>
            <a:ext cx="355104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Source: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pizza_sales.csv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one row per pizza sold within an order. 48,620 rows, no missing values.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985421" y="2031603"/>
            <a:ext cx="3551049" cy="3024584"/>
          </a:xfrm>
          <a:prstGeom prst="roundRect">
            <a:avLst>
              <a:gd name="adj" fmla="val 221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85421" y="2685455"/>
            <a:ext cx="3551049" cy="99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985421" y="3336131"/>
            <a:ext cx="3551049" cy="99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985421" y="3986808"/>
            <a:ext cx="3551049" cy="99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985421" y="4402336"/>
            <a:ext cx="3551049" cy="99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151311" y="2124968"/>
            <a:ext cx="170602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order_id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566631" y="2124968"/>
            <a:ext cx="180404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Shared across pizzas in same order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151311" y="2775645"/>
            <a:ext cx="170602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quantity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566631" y="2775645"/>
            <a:ext cx="180404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Number of that pizza sold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151311" y="3426321"/>
            <a:ext cx="109643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unit_price / total_price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566631" y="3426321"/>
            <a:ext cx="180404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Price per pizza and line total (USD)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151311" y="4076998"/>
            <a:ext cx="170602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pizza_size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566631" y="4076998"/>
            <a:ext cx="241363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S, M, L, XL, or XXL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151311" y="4492526"/>
            <a:ext cx="109643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pizza_category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566631" y="4492526"/>
            <a:ext cx="180404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Classic, Chicken, Supreme, or Veggie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985421" y="5207496"/>
            <a:ext cx="3551049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SQL script loads this CSV into a database table and runs aggregate queries for KPIs, trends, and rankings — all reproduced here directly against the raw file.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8908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Power BI Dashboard Overview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25385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Pizza_Sales_dashboard.pbix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a two-page report with shared KPI measures and Month/Category slicers on every page.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071316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326667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Home Page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675360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KPI scorecard · Daily &amp; Monthly trends · % Sales by Category &amp; Size · Pizzas Sold by Category funnel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4664571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28717" y="485993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Best &amp; Worst Sellers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428717" y="526861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 5 / Bottom 5 by Revenue · Quantity · Orders — all with Month &amp; Category slicers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055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Home Page — Order Trends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73783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Daily Orders (Day of Week)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74230"/>
            <a:ext cx="5239810" cy="3771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6760" y="1373783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Monthly Orders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760" y="1774230"/>
            <a:ext cx="5239810" cy="3771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5848548"/>
            <a:ext cx="1086874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Orders climb through the week, peaking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Friday (3,538)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27% above the Sunday low. July leads monthly volume (1,935 orders); the ~17% gap between busiest and quietest month shows demand is driven more by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day-of-week patterns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than strong seasonality.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055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Home Page — Category &amp; Size Breakdown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73783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% Revenue by Category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74230"/>
            <a:ext cx="5239810" cy="3771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6760" y="1373783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% Revenue by Size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760" y="1774230"/>
            <a:ext cx="5239810" cy="3771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5848548"/>
            <a:ext cx="1086874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Classic leads revenue (26.9%) and units (14,888).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Large pizzas alone generate 45.9%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of all revenue; XL and XXL together contribute under 2% — a niche offering, not a growth lever.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055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Best &amp; Worst Sellers — By Revenue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73783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Top 5 by Revenue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74230"/>
            <a:ext cx="5239810" cy="3771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6760" y="1373783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Bottom 5 by Revenue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760" y="1774230"/>
            <a:ext cx="5239810" cy="3771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5848548"/>
            <a:ext cx="1086874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Premium Chicken pizzas dominate the top.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Brie Carre earns under a third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of the next-lowest performer's revenue — the clearest candidate for menu, pricing, or recipe review.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468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Best &amp; Worst Sellers — By Quantity &amp; Orders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87264"/>
            <a:ext cx="5254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Top 5 by Quantity Sold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47726"/>
            <a:ext cx="5254295" cy="3782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2275" y="1287264"/>
            <a:ext cx="5254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Top 5 by Number of Orders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275" y="1647726"/>
            <a:ext cx="5254295" cy="3782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5689402"/>
            <a:ext cx="10868745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Classic Deluxe, Hawaiian, and Pepperoni are the most frequently ordered — natural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combo anchors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Chicken pizzas earn more per unit, positioning them as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premium upsells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Bottom-five lists by quantity and orders closely mirror revenue, confirming weak fundamental demand for Brie Carre, Mediterranean, and Calabrese.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Insights &amp; Recommendations</a:t>
            </a:r>
            <a:endParaRPr lang="en-US" sz="3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263055"/>
            <a:ext cx="6296860" cy="11570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8049" y="144154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Staff for the Friday Peak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488049" y="177135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Friday is 27% busier than Sunday. Align staffing, prep, and delivery to 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Thursday–Saturday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peak schedule.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554684"/>
            <a:ext cx="6296860" cy="11570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8049" y="273317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Promote Large Upsells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5488049" y="306298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Large pizzas drive 45.9% of revenue. A modest Medium→Large upsell has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outsized revenue potential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846314"/>
            <a:ext cx="6296860" cy="11570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8049" y="402480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Anchor Combos on Classics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5488049" y="435461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Classic Deluxe, Hawaiian, Pepperoni = most-ordered. Position Chicken pizzas as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premium add-ons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137944"/>
            <a:ext cx="6296860" cy="115708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8049" y="5316438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Review Brie Carre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5488049" y="5646241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490 units / $11,588 / 480 orders — under a quarter of the next-lowest. Investigate pricing, visibility, or recipe before deciding to keep or retire.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7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Methodology &amp; Data Notes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883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Reproducibility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563118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figures re-run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pizza_sales.sql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against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pizza_sales.csv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(48,620 rows, no missing values). Dates parsed from M/D/YYYY format; currency rounded to 2 decimals per source SQL.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985419"/>
            <a:ext cx="5203794" cy="1644253"/>
          </a:xfrm>
          <a:prstGeom prst="roundRect">
            <a:avLst>
              <a:gd name="adj" fmla="val 4828"/>
            </a:avLst>
          </a:prstGeom>
          <a:solidFill>
            <a:srgbClr val="E2E3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272161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202708"/>
            <a:ext cx="440053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Charts in Sections 5–6 match the live Power BI dashboard value-for-value, using identical query logic and chart types (column, area, donut, funnel, horizontal bar).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2776" y="207883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Source Files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332776" y="2586732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28133" y="2782094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pizza_sales.csv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528133" y="3266380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Raw transaction data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9029176" y="2586732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24533" y="2782094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pizza_sales.sql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9224533" y="3266380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Aggregation queries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332776" y="3953173"/>
            <a:ext cx="5203794" cy="1177429"/>
          </a:xfrm>
          <a:prstGeom prst="roundRect">
            <a:avLst>
              <a:gd name="adj" fmla="val 674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28133" y="4148534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Pizza_Sales_dashboard.pbix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528133" y="4632821"/>
            <a:ext cx="48130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 BI report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2026-08-25T09:46:33Z</dcterms:created>
  <dcterms:modified xsi:type="dcterms:W3CDTF">2026-08-25T09:46:33Z</dcterms:modified>
</cp:coreProperties>
</file>